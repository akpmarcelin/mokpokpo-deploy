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65" r:id="rId6"/>
    <p:sldId id="266" r:id="rId7"/>
    <p:sldId id="259" r:id="rId8"/>
    <p:sldId id="277" r:id="rId9"/>
    <p:sldId id="272" r:id="rId10"/>
    <p:sldId id="279" r:id="rId11"/>
    <p:sldId id="273" r:id="rId12"/>
    <p:sldId id="275" r:id="rId13"/>
    <p:sldId id="282" r:id="rId14"/>
    <p:sldId id="276" r:id="rId15"/>
    <p:sldId id="28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photos médicament libres de droits | Piqsels"/>
          <p:cNvPicPr>
            <a:picLocks noChangeAspect="1"/>
          </p:cNvPicPr>
          <p:nvPr/>
        </p:nvPicPr>
        <p:blipFill>
          <a:blip r:embed="rId1"/>
          <a:srcRect r="1594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479734" y="1982983"/>
            <a:ext cx="36534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fr-FR" u="sng" dirty="0"/>
              <a:t>Année académique:</a:t>
            </a:r>
            <a:r>
              <a:rPr lang="fr-FR" dirty="0"/>
              <a:t> 2026-2027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39922" y="2551982"/>
            <a:ext cx="4137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fr-FR" u="sng" dirty="0"/>
              <a:t>Chargé du cours:</a:t>
            </a:r>
            <a:r>
              <a:rPr lang="fr-FR" dirty="0"/>
              <a:t> M. Justin Robbie </a:t>
            </a:r>
            <a:r>
              <a:rPr lang="fr-FR" err="1"/>
              <a:t>Damalie</a:t>
            </a:r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503208" y="3219504"/>
            <a:ext cx="35645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fr-FR" u="sng" dirty="0"/>
              <a:t>Intitulé UE</a:t>
            </a:r>
            <a:r>
              <a:rPr lang="fr-FR" dirty="0"/>
              <a:t>: Base de Données</a:t>
            </a:r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30442" y="255236"/>
            <a:ext cx="303248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fr-FR" sz="2800" dirty="0"/>
              <a:t>Gestion de ventes de produits pharmaceutiques</a:t>
            </a:r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744820" y="3990107"/>
            <a:ext cx="28462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fr-FR" sz="2800" dirty="0"/>
              <a:t>Groupe 1:</a:t>
            </a:r>
            <a:endParaRPr lang="fr-F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Image 4" descr="Abstract Background Modern · Free image on Pixabay"/>
          <p:cNvPicPr>
            <a:picLocks noChangeAspect="1"/>
          </p:cNvPicPr>
          <p:nvPr/>
        </p:nvPicPr>
        <p:blipFill>
          <a:blip r:embed="rId1"/>
          <a:srcRect t="18700" r="-1" b="10969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116525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08673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975235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3718" y="186192"/>
            <a:ext cx="7340048" cy="712330"/>
          </a:xfrm>
        </p:spPr>
        <p:txBody>
          <a:bodyPr anchor="b">
            <a:normAutofit/>
          </a:bodyPr>
          <a:lstStyle/>
          <a:p>
            <a:r>
              <a:rPr lang="fr-FR" sz="3600" dirty="0"/>
              <a:t>Introduction:</a:t>
            </a:r>
            <a:endParaRPr lang="fr-FR" sz="3600" dirty="0"/>
          </a:p>
        </p:txBody>
      </p:sp>
      <p:sp>
        <p:nvSpPr>
          <p:cNvPr id="3" name="Zone de texte 2"/>
          <p:cNvSpPr txBox="1"/>
          <p:nvPr/>
        </p:nvSpPr>
        <p:spPr>
          <a:xfrm>
            <a:off x="1116330" y="898525"/>
            <a:ext cx="7558405" cy="454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Aujourd'hui nous pr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sentons notre syst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me de gestion des ventes pour une pharmacie fictive</a:t>
            </a:r>
            <a:r>
              <a:rPr lang="fr-FR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Contexte de notre pharmacie :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Petit entrepôt : Stockage et organisation produits pharma</a:t>
            </a:r>
            <a:r>
              <a:rPr lang="fr-FR" altLang="en-US">
                <a:latin typeface="Times New Roman" panose="02020603050405020304" charset="0"/>
                <a:cs typeface="Times New Roman" panose="02020603050405020304" charset="0"/>
              </a:rPr>
              <a:t>ceutique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2 comptoirs de vente : Point de rencontre clients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Stocks critiques : Parac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tamol, Amoxicilline, Ibuprof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ne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Flux quotidien : 200+ ventes, gestion r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approvisionnement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80000"/>
              </a:lnSpc>
            </a:pP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Notre syst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me g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re :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 Enregistrement ventes comptoirs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 Suivi stocks entrepôt realtime  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 Alertes ruptures (stock &lt; 10)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 Interface web pour </a:t>
            </a:r>
            <a:r>
              <a:rPr lang="fr-FR" altLang="en-US">
                <a:latin typeface="Times New Roman" panose="02020603050405020304" charset="0"/>
                <a:cs typeface="Times New Roman" panose="02020603050405020304" charset="0"/>
              </a:rPr>
              <a:t>utilisateur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1273175" y="5445760"/>
            <a:ext cx="5778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>
                <a:latin typeface="Times New Roman" panose="02020603050405020304" charset="0"/>
                <a:cs typeface="Times New Roman" panose="02020603050405020304" charset="0"/>
              </a:rPr>
              <a:t>Objectif : Système moderne permettant aux pharmaciens de gérer leurs stocks et ventes en temps réel depuis tablette ou mobile.</a:t>
            </a:r>
            <a:endParaRPr lang="en-US" altLang="fr-FR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Image 4" descr="Abstract Background Modern · Free image on Pixabay"/>
          <p:cNvPicPr>
            <a:picLocks noChangeAspect="1"/>
          </p:cNvPicPr>
          <p:nvPr/>
        </p:nvPicPr>
        <p:blipFill>
          <a:blip r:embed="rId1"/>
          <a:srcRect t="18700" r="-1" b="10969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116525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08673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975235" y="-17801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3718" y="186192"/>
            <a:ext cx="7340048" cy="712330"/>
          </a:xfrm>
        </p:spPr>
        <p:txBody>
          <a:bodyPr anchor="b">
            <a:normAutofit/>
          </a:bodyPr>
          <a:lstStyle/>
          <a:p>
            <a:r>
              <a:rPr lang="fr-FR" sz="3600" dirty="0"/>
              <a:t>Modèles de Conception </a:t>
            </a:r>
            <a:endParaRPr lang="fr-FR" sz="3600" dirty="0"/>
          </a:p>
        </p:txBody>
      </p:sp>
      <p:sp>
        <p:nvSpPr>
          <p:cNvPr id="3" name="ZoneTexte 2"/>
          <p:cNvSpPr txBox="1"/>
          <p:nvPr/>
        </p:nvSpPr>
        <p:spPr>
          <a:xfrm>
            <a:off x="1233170" y="1177925"/>
            <a:ext cx="6762750" cy="1771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fr-FR" dirty="0"/>
              <a:t>Afin de créer cette solution nous utilisons les modèles suivants:</a:t>
            </a:r>
            <a:endParaRPr lang="fr-FR" dirty="0"/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MCD(Modèle de conception de données)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Diagramme des classes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MLD(Modèle Logique de Données)</a:t>
            </a:r>
            <a:endParaRPr lang="fr-FR" dirty="0"/>
          </a:p>
          <a:p>
            <a:pPr indent="0">
              <a:buFont typeface="Arial" panose="020B0604020202020204" pitchFamily="34" charset="0"/>
              <a:buNone/>
            </a:pPr>
            <a:r>
              <a:rPr lang="fr-FR" dirty="0"/>
              <a:t>    </a:t>
            </a:r>
            <a:endParaRPr lang="fr-FR" dirty="0"/>
          </a:p>
          <a:p>
            <a:r>
              <a:rPr lang="fr-FR" dirty="0"/>
              <a:t> </a:t>
            </a:r>
            <a:endParaRPr lang="fr-FR" dirty="0"/>
          </a:p>
          <a:p>
            <a:pPr indent="0">
              <a:buFont typeface="Wingdings" panose="05000000000000000000" charset="0"/>
              <a:buNone/>
            </a:pPr>
            <a:r>
              <a:rPr lang="fr-FR" dirty="0"/>
              <a:t>     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" name="Image 8" descr="Abstract Background Modern · Free image on Pixabay"/>
          <p:cNvPicPr>
            <a:picLocks noChangeAspect="1"/>
          </p:cNvPicPr>
          <p:nvPr/>
        </p:nvPicPr>
        <p:blipFill>
          <a:blip r:embed="rId1"/>
          <a:srcRect t="18701" r="-1" b="10968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082696" y="-3082698"/>
            <a:ext cx="6026299" cy="12191695"/>
          </a:xfrm>
          <a:custGeom>
            <a:avLst/>
            <a:gdLst>
              <a:gd name="connsiteX0" fmla="*/ 0 w 6026299"/>
              <a:gd name="connsiteY0" fmla="*/ 12190169 h 12191695"/>
              <a:gd name="connsiteX1" fmla="*/ 0 w 6026299"/>
              <a:gd name="connsiteY1" fmla="*/ 1217 h 12191695"/>
              <a:gd name="connsiteX2" fmla="*/ 169958 w 6026299"/>
              <a:gd name="connsiteY2" fmla="*/ 1217 h 12191695"/>
              <a:gd name="connsiteX3" fmla="*/ 169958 w 6026299"/>
              <a:gd name="connsiteY3" fmla="*/ 0 h 12191695"/>
              <a:gd name="connsiteX4" fmla="*/ 413807 w 6026299"/>
              <a:gd name="connsiteY4" fmla="*/ 0 h 12191695"/>
              <a:gd name="connsiteX5" fmla="*/ 675079 w 6026299"/>
              <a:gd name="connsiteY5" fmla="*/ 0 h 12191695"/>
              <a:gd name="connsiteX6" fmla="*/ 893165 w 6026299"/>
              <a:gd name="connsiteY6" fmla="*/ 0 h 12191695"/>
              <a:gd name="connsiteX7" fmla="*/ 925786 w 6026299"/>
              <a:gd name="connsiteY7" fmla="*/ 0 h 12191695"/>
              <a:gd name="connsiteX8" fmla="*/ 1581826 w 6026299"/>
              <a:gd name="connsiteY8" fmla="*/ 0 h 12191695"/>
              <a:gd name="connsiteX9" fmla="*/ 1590992 w 6026299"/>
              <a:gd name="connsiteY9" fmla="*/ 0 h 12191695"/>
              <a:gd name="connsiteX10" fmla="*/ 1685164 w 6026299"/>
              <a:gd name="connsiteY10" fmla="*/ 0 h 12191695"/>
              <a:gd name="connsiteX11" fmla="*/ 2806109 w 6026299"/>
              <a:gd name="connsiteY11" fmla="*/ 0 h 12191695"/>
              <a:gd name="connsiteX12" fmla="*/ 4807848 w 6026299"/>
              <a:gd name="connsiteY12" fmla="*/ 0 h 12191695"/>
              <a:gd name="connsiteX13" fmla="*/ 4824457 w 6026299"/>
              <a:gd name="connsiteY13" fmla="*/ 26661 h 12191695"/>
              <a:gd name="connsiteX14" fmla="*/ 6026299 w 6026299"/>
              <a:gd name="connsiteY14" fmla="*/ 6438338 h 12191695"/>
              <a:gd name="connsiteX15" fmla="*/ 4619169 w 6026299"/>
              <a:gd name="connsiteY15" fmla="*/ 11332719 h 12191695"/>
              <a:gd name="connsiteX16" fmla="*/ 4231307 w 6026299"/>
              <a:gd name="connsiteY16" fmla="*/ 12054097 h 12191695"/>
              <a:gd name="connsiteX17" fmla="*/ 4147408 w 6026299"/>
              <a:gd name="connsiteY17" fmla="*/ 12191695 h 12191695"/>
              <a:gd name="connsiteX18" fmla="*/ 2806109 w 6026299"/>
              <a:gd name="connsiteY18" fmla="*/ 12191695 h 12191695"/>
              <a:gd name="connsiteX19" fmla="*/ 1590992 w 6026299"/>
              <a:gd name="connsiteY19" fmla="*/ 12191695 h 12191695"/>
              <a:gd name="connsiteX20" fmla="*/ 1581826 w 6026299"/>
              <a:gd name="connsiteY20" fmla="*/ 12191695 h 12191695"/>
              <a:gd name="connsiteX21" fmla="*/ 1453643 w 6026299"/>
              <a:gd name="connsiteY21" fmla="*/ 12191695 h 12191695"/>
              <a:gd name="connsiteX22" fmla="*/ 925786 w 6026299"/>
              <a:gd name="connsiteY22" fmla="*/ 12191695 h 12191695"/>
              <a:gd name="connsiteX23" fmla="*/ 893165 w 6026299"/>
              <a:gd name="connsiteY23" fmla="*/ 12191695 h 12191695"/>
              <a:gd name="connsiteX24" fmla="*/ 675079 w 6026299"/>
              <a:gd name="connsiteY24" fmla="*/ 12191695 h 12191695"/>
              <a:gd name="connsiteX25" fmla="*/ 413807 w 6026299"/>
              <a:gd name="connsiteY25" fmla="*/ 12191695 h 12191695"/>
              <a:gd name="connsiteX26" fmla="*/ 169958 w 6026299"/>
              <a:gd name="connsiteY26" fmla="*/ 12191695 h 12191695"/>
              <a:gd name="connsiteX27" fmla="*/ 169958 w 6026299"/>
              <a:gd name="connsiteY27" fmla="*/ 12190169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26299" h="12191695">
                <a:moveTo>
                  <a:pt x="0" y="12190169"/>
                </a:moveTo>
                <a:lnTo>
                  <a:pt x="0" y="1217"/>
                </a:lnTo>
                <a:lnTo>
                  <a:pt x="169958" y="1217"/>
                </a:lnTo>
                <a:lnTo>
                  <a:pt x="169958" y="0"/>
                </a:lnTo>
                <a:lnTo>
                  <a:pt x="413807" y="0"/>
                </a:lnTo>
                <a:lnTo>
                  <a:pt x="675079" y="0"/>
                </a:lnTo>
                <a:lnTo>
                  <a:pt x="893165" y="0"/>
                </a:lnTo>
                <a:lnTo>
                  <a:pt x="925786" y="0"/>
                </a:lnTo>
                <a:lnTo>
                  <a:pt x="1581826" y="0"/>
                </a:lnTo>
                <a:lnTo>
                  <a:pt x="1590992" y="0"/>
                </a:lnTo>
                <a:lnTo>
                  <a:pt x="1685164" y="0"/>
                </a:lnTo>
                <a:lnTo>
                  <a:pt x="2806109" y="0"/>
                </a:lnTo>
                <a:lnTo>
                  <a:pt x="4807848" y="0"/>
                </a:lnTo>
                <a:lnTo>
                  <a:pt x="4824457" y="26661"/>
                </a:lnTo>
                <a:cubicBezTo>
                  <a:pt x="5595579" y="1341551"/>
                  <a:pt x="6026299" y="3721137"/>
                  <a:pt x="6026299" y="6438338"/>
                </a:cubicBezTo>
                <a:cubicBezTo>
                  <a:pt x="6026299" y="8833790"/>
                  <a:pt x="5329078" y="9960353"/>
                  <a:pt x="4619169" y="11332719"/>
                </a:cubicBezTo>
                <a:cubicBezTo>
                  <a:pt x="4489892" y="11582638"/>
                  <a:pt x="4361797" y="11827452"/>
                  <a:pt x="4231307" y="12054097"/>
                </a:cubicBezTo>
                <a:lnTo>
                  <a:pt x="4147408" y="12191695"/>
                </a:lnTo>
                <a:lnTo>
                  <a:pt x="2806109" y="12191695"/>
                </a:lnTo>
                <a:lnTo>
                  <a:pt x="1590992" y="12191695"/>
                </a:lnTo>
                <a:lnTo>
                  <a:pt x="1581826" y="12191695"/>
                </a:lnTo>
                <a:lnTo>
                  <a:pt x="1453643" y="12191695"/>
                </a:lnTo>
                <a:lnTo>
                  <a:pt x="925786" y="12191695"/>
                </a:lnTo>
                <a:lnTo>
                  <a:pt x="893165" y="12191695"/>
                </a:lnTo>
                <a:lnTo>
                  <a:pt x="675079" y="12191695"/>
                </a:lnTo>
                <a:lnTo>
                  <a:pt x="413807" y="12191695"/>
                </a:lnTo>
                <a:lnTo>
                  <a:pt x="169958" y="12191695"/>
                </a:lnTo>
                <a:lnTo>
                  <a:pt x="169958" y="1219016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6054" y="225199"/>
            <a:ext cx="8283110" cy="677862"/>
          </a:xfrm>
        </p:spPr>
        <p:txBody>
          <a:bodyPr anchor="b">
            <a:normAutofit/>
          </a:bodyPr>
          <a:lstStyle/>
          <a:p>
            <a:r>
              <a:rPr lang="fr-FR" sz="3600" dirty="0"/>
              <a:t>Architecture Full Stack</a:t>
            </a:r>
            <a:endParaRPr lang="fr-FR" sz="3600" dirty="0"/>
          </a:p>
        </p:txBody>
      </p:sp>
      <p:sp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94962" y="1382479"/>
            <a:ext cx="568353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r>
              <a:rPr lang="fr-FR" dirty="0"/>
              <a:t>Base de données: PostgreSQL</a:t>
            </a:r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r>
              <a:rPr lang="fr-FR" dirty="0"/>
              <a:t>Backend: Framework Django </a:t>
            </a:r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r>
              <a:rPr lang="fr-FR" dirty="0"/>
              <a:t>Frontend: Html, </a:t>
            </a:r>
            <a:r>
              <a:rPr lang="fr-FR" dirty="0" err="1"/>
              <a:t>Css</a:t>
            </a:r>
            <a:r>
              <a:rPr lang="fr-FR" dirty="0"/>
              <a:t>, Bootstrap, Javascript</a:t>
            </a:r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endParaRPr lang="fr-FR" dirty="0"/>
          </a:p>
          <a:p>
            <a:pPr marL="285750" indent="-285750">
              <a:buFont typeface="Arial" panose="020B0604020202020204"/>
              <a:buChar char="•"/>
            </a:pP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" name="Image 8" descr="Abstract Background Modern · Free image on Pixabay"/>
          <p:cNvPicPr>
            <a:picLocks noChangeAspect="1"/>
          </p:cNvPicPr>
          <p:nvPr/>
        </p:nvPicPr>
        <p:blipFill>
          <a:blip r:embed="rId1"/>
          <a:srcRect t="18701" r="-1" b="10968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082696" y="-3082698"/>
            <a:ext cx="6026299" cy="12191695"/>
          </a:xfrm>
          <a:custGeom>
            <a:avLst/>
            <a:gdLst>
              <a:gd name="connsiteX0" fmla="*/ 0 w 6026299"/>
              <a:gd name="connsiteY0" fmla="*/ 12190169 h 12191695"/>
              <a:gd name="connsiteX1" fmla="*/ 0 w 6026299"/>
              <a:gd name="connsiteY1" fmla="*/ 1217 h 12191695"/>
              <a:gd name="connsiteX2" fmla="*/ 169958 w 6026299"/>
              <a:gd name="connsiteY2" fmla="*/ 1217 h 12191695"/>
              <a:gd name="connsiteX3" fmla="*/ 169958 w 6026299"/>
              <a:gd name="connsiteY3" fmla="*/ 0 h 12191695"/>
              <a:gd name="connsiteX4" fmla="*/ 413807 w 6026299"/>
              <a:gd name="connsiteY4" fmla="*/ 0 h 12191695"/>
              <a:gd name="connsiteX5" fmla="*/ 675079 w 6026299"/>
              <a:gd name="connsiteY5" fmla="*/ 0 h 12191695"/>
              <a:gd name="connsiteX6" fmla="*/ 893165 w 6026299"/>
              <a:gd name="connsiteY6" fmla="*/ 0 h 12191695"/>
              <a:gd name="connsiteX7" fmla="*/ 925786 w 6026299"/>
              <a:gd name="connsiteY7" fmla="*/ 0 h 12191695"/>
              <a:gd name="connsiteX8" fmla="*/ 1581826 w 6026299"/>
              <a:gd name="connsiteY8" fmla="*/ 0 h 12191695"/>
              <a:gd name="connsiteX9" fmla="*/ 1590992 w 6026299"/>
              <a:gd name="connsiteY9" fmla="*/ 0 h 12191695"/>
              <a:gd name="connsiteX10" fmla="*/ 1685164 w 6026299"/>
              <a:gd name="connsiteY10" fmla="*/ 0 h 12191695"/>
              <a:gd name="connsiteX11" fmla="*/ 2806109 w 6026299"/>
              <a:gd name="connsiteY11" fmla="*/ 0 h 12191695"/>
              <a:gd name="connsiteX12" fmla="*/ 4807848 w 6026299"/>
              <a:gd name="connsiteY12" fmla="*/ 0 h 12191695"/>
              <a:gd name="connsiteX13" fmla="*/ 4824457 w 6026299"/>
              <a:gd name="connsiteY13" fmla="*/ 26661 h 12191695"/>
              <a:gd name="connsiteX14" fmla="*/ 6026299 w 6026299"/>
              <a:gd name="connsiteY14" fmla="*/ 6438338 h 12191695"/>
              <a:gd name="connsiteX15" fmla="*/ 4619169 w 6026299"/>
              <a:gd name="connsiteY15" fmla="*/ 11332719 h 12191695"/>
              <a:gd name="connsiteX16" fmla="*/ 4231307 w 6026299"/>
              <a:gd name="connsiteY16" fmla="*/ 12054097 h 12191695"/>
              <a:gd name="connsiteX17" fmla="*/ 4147408 w 6026299"/>
              <a:gd name="connsiteY17" fmla="*/ 12191695 h 12191695"/>
              <a:gd name="connsiteX18" fmla="*/ 2806109 w 6026299"/>
              <a:gd name="connsiteY18" fmla="*/ 12191695 h 12191695"/>
              <a:gd name="connsiteX19" fmla="*/ 1590992 w 6026299"/>
              <a:gd name="connsiteY19" fmla="*/ 12191695 h 12191695"/>
              <a:gd name="connsiteX20" fmla="*/ 1581826 w 6026299"/>
              <a:gd name="connsiteY20" fmla="*/ 12191695 h 12191695"/>
              <a:gd name="connsiteX21" fmla="*/ 1453643 w 6026299"/>
              <a:gd name="connsiteY21" fmla="*/ 12191695 h 12191695"/>
              <a:gd name="connsiteX22" fmla="*/ 925786 w 6026299"/>
              <a:gd name="connsiteY22" fmla="*/ 12191695 h 12191695"/>
              <a:gd name="connsiteX23" fmla="*/ 893165 w 6026299"/>
              <a:gd name="connsiteY23" fmla="*/ 12191695 h 12191695"/>
              <a:gd name="connsiteX24" fmla="*/ 675079 w 6026299"/>
              <a:gd name="connsiteY24" fmla="*/ 12191695 h 12191695"/>
              <a:gd name="connsiteX25" fmla="*/ 413807 w 6026299"/>
              <a:gd name="connsiteY25" fmla="*/ 12191695 h 12191695"/>
              <a:gd name="connsiteX26" fmla="*/ 169958 w 6026299"/>
              <a:gd name="connsiteY26" fmla="*/ 12191695 h 12191695"/>
              <a:gd name="connsiteX27" fmla="*/ 169958 w 6026299"/>
              <a:gd name="connsiteY27" fmla="*/ 12190169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26299" h="12191695">
                <a:moveTo>
                  <a:pt x="0" y="12190169"/>
                </a:moveTo>
                <a:lnTo>
                  <a:pt x="0" y="1217"/>
                </a:lnTo>
                <a:lnTo>
                  <a:pt x="169958" y="1217"/>
                </a:lnTo>
                <a:lnTo>
                  <a:pt x="169958" y="0"/>
                </a:lnTo>
                <a:lnTo>
                  <a:pt x="413807" y="0"/>
                </a:lnTo>
                <a:lnTo>
                  <a:pt x="675079" y="0"/>
                </a:lnTo>
                <a:lnTo>
                  <a:pt x="893165" y="0"/>
                </a:lnTo>
                <a:lnTo>
                  <a:pt x="925786" y="0"/>
                </a:lnTo>
                <a:lnTo>
                  <a:pt x="1581826" y="0"/>
                </a:lnTo>
                <a:lnTo>
                  <a:pt x="1590992" y="0"/>
                </a:lnTo>
                <a:lnTo>
                  <a:pt x="1685164" y="0"/>
                </a:lnTo>
                <a:lnTo>
                  <a:pt x="2806109" y="0"/>
                </a:lnTo>
                <a:lnTo>
                  <a:pt x="4807848" y="0"/>
                </a:lnTo>
                <a:lnTo>
                  <a:pt x="4824457" y="26661"/>
                </a:lnTo>
                <a:cubicBezTo>
                  <a:pt x="5595579" y="1341551"/>
                  <a:pt x="6026299" y="3721137"/>
                  <a:pt x="6026299" y="6438338"/>
                </a:cubicBezTo>
                <a:cubicBezTo>
                  <a:pt x="6026299" y="8833790"/>
                  <a:pt x="5329078" y="9960353"/>
                  <a:pt x="4619169" y="11332719"/>
                </a:cubicBezTo>
                <a:cubicBezTo>
                  <a:pt x="4489892" y="11582638"/>
                  <a:pt x="4361797" y="11827452"/>
                  <a:pt x="4231307" y="12054097"/>
                </a:cubicBezTo>
                <a:lnTo>
                  <a:pt x="4147408" y="12191695"/>
                </a:lnTo>
                <a:lnTo>
                  <a:pt x="2806109" y="12191695"/>
                </a:lnTo>
                <a:lnTo>
                  <a:pt x="1590992" y="12191695"/>
                </a:lnTo>
                <a:lnTo>
                  <a:pt x="1581826" y="12191695"/>
                </a:lnTo>
                <a:lnTo>
                  <a:pt x="1453643" y="12191695"/>
                </a:lnTo>
                <a:lnTo>
                  <a:pt x="925786" y="12191695"/>
                </a:lnTo>
                <a:lnTo>
                  <a:pt x="893165" y="12191695"/>
                </a:lnTo>
                <a:lnTo>
                  <a:pt x="675079" y="12191695"/>
                </a:lnTo>
                <a:lnTo>
                  <a:pt x="413807" y="12191695"/>
                </a:lnTo>
                <a:lnTo>
                  <a:pt x="169958" y="12191695"/>
                </a:lnTo>
                <a:lnTo>
                  <a:pt x="169958" y="1219016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6054" y="225199"/>
            <a:ext cx="8283110" cy="677862"/>
          </a:xfrm>
        </p:spPr>
        <p:txBody>
          <a:bodyPr anchor="b">
            <a:normAutofit/>
          </a:bodyPr>
          <a:lstStyle/>
          <a:p>
            <a:r>
              <a:rPr lang="fr-FR" sz="3600" dirty="0"/>
              <a:t>Présentation PostgreSQL</a:t>
            </a:r>
            <a:endParaRPr lang="fr-FR" sz="3600" dirty="0"/>
          </a:p>
        </p:txBody>
      </p:sp>
      <p:sp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Zone de texte 2"/>
          <p:cNvSpPr txBox="1"/>
          <p:nvPr/>
        </p:nvSpPr>
        <p:spPr>
          <a:xfrm>
            <a:off x="1163320" y="1303020"/>
            <a:ext cx="61868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Gratuit :Open source</a:t>
            </a: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Ultra rapide : I/O asyncrone(un turbo pour la lecture sur disque NVMe), </a:t>
            </a:r>
            <a:r>
              <a:rPr lang="en-US" altLang="fr-FR" sz="2400">
                <a:latin typeface="Times New Roman" panose="02020603050405020304" charset="0"/>
                <a:cs typeface="Times New Roman" panose="02020603050405020304" charset="0"/>
              </a:rPr>
              <a:t>OAuth 2.0</a:t>
            </a: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fr-FR" sz="2400">
                <a:latin typeface="Times New Roman" panose="02020603050405020304" charset="0"/>
                <a:cs typeface="Times New Roman" panose="02020603050405020304" charset="0"/>
              </a:rPr>
              <a:t> un gage de simplicit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latin typeface="Times New Roman" panose="02020603050405020304" charset="0"/>
                <a:cs typeface="Times New Roman" panose="02020603050405020304" charset="0"/>
              </a:rPr>
              <a:t> pour les administrateurs</a:t>
            </a: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Fiable : les banques, les hopitaux les utilisent</a:t>
            </a: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Avantages pour le développeur : fichier JSON, identifiants UUIDS</a:t>
            </a: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/>
              <a:t>Fichiers</a:t>
            </a:r>
            <a:r>
              <a:rPr lang="en-US" sz="3600" dirty="0"/>
              <a:t> Configuration</a:t>
            </a:r>
            <a:endParaRPr lang="fr-FR" sz="3600" dirty="0"/>
          </a:p>
        </p:txBody>
      </p:sp>
      <p:sp>
        <p:nvSpPr>
          <p:cNvPr id="4" name="Zone de texte 3"/>
          <p:cNvSpPr txBox="1"/>
          <p:nvPr/>
        </p:nvSpPr>
        <p:spPr>
          <a:xfrm>
            <a:off x="1347470" y="1205865"/>
            <a:ext cx="6992620" cy="299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/>
              <a:t>Voici les fichiers data  de notre base de données :</a:t>
            </a:r>
            <a:endParaRPr lang="fr-FR" altLang="en-US"/>
          </a:p>
          <a:p>
            <a:pPr marL="285750" indent="-285750">
              <a:buFont typeface="Wingdings" panose="05000000000000000000" charset="0"/>
              <a:buChar char="§"/>
            </a:pPr>
            <a:endParaRPr lang="fr-FR" altLang="en-US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fr-FR"/>
              <a:t>postgresql.conf</a:t>
            </a:r>
            <a:r>
              <a:rPr lang="fr-FR" altLang="en-US"/>
              <a:t> :  </a:t>
            </a:r>
            <a:r>
              <a:rPr lang="en-US" altLang="fr-FR"/>
              <a:t>Fichier principal (~2000 lignes). Configure performances/m</a:t>
            </a:r>
            <a:r>
              <a:rPr lang="en-US" altLang="en-US"/>
              <a:t>é</a:t>
            </a:r>
            <a:r>
              <a:rPr lang="en-US" altLang="fr-FR"/>
              <a:t>moire </a:t>
            </a:r>
            <a:endParaRPr lang="en-US" altLang="fr-FR"/>
          </a:p>
          <a:p>
            <a:pPr marL="285750" indent="-285750">
              <a:buFont typeface="Wingdings" panose="05000000000000000000" charset="0"/>
              <a:buChar char="§"/>
            </a:pPr>
            <a:r>
              <a:rPr lang="fr-FR" altLang="en-US"/>
              <a:t>postgresql.auto.conf : </a:t>
            </a:r>
            <a:r>
              <a:rPr lang="en-US" altLang="fr-FR"/>
              <a:t>Auto-g</a:t>
            </a:r>
            <a:r>
              <a:rPr lang="en-US" altLang="en-US"/>
              <a:t>é</a:t>
            </a:r>
            <a:r>
              <a:rPr lang="en-US" altLang="fr-FR"/>
              <a:t>n</a:t>
            </a:r>
            <a:r>
              <a:rPr lang="en-US" altLang="en-US"/>
              <a:t>é</a:t>
            </a:r>
            <a:r>
              <a:rPr lang="en-US" altLang="fr-FR"/>
              <a:t>r</a:t>
            </a:r>
            <a:r>
              <a:rPr lang="en-US" altLang="en-US"/>
              <a:t>é</a:t>
            </a:r>
            <a:r>
              <a:rPr lang="en-US" altLang="fr-FR"/>
              <a:t> (via ALTER SYSTEM) </a:t>
            </a:r>
            <a:endParaRPr lang="en-US" altLang="fr-FR"/>
          </a:p>
          <a:p>
            <a:pPr marL="285750" indent="-285750">
              <a:buFont typeface="Wingdings" panose="05000000000000000000" charset="0"/>
              <a:buChar char="§"/>
            </a:pPr>
            <a:r>
              <a:rPr lang="fr-FR" altLang="en-US"/>
              <a:t>pg_hba.conf : </a:t>
            </a:r>
            <a:r>
              <a:rPr lang="en-US" altLang="fr-FR"/>
              <a:t>Authentification</a:t>
            </a:r>
            <a:endParaRPr lang="en-US" altLang="fr-FR"/>
          </a:p>
          <a:p>
            <a:pPr marL="285750" indent="-285750">
              <a:buFont typeface="Wingdings" panose="05000000000000000000" charset="0"/>
              <a:buChar char="§"/>
            </a:pPr>
            <a:r>
              <a:rPr lang="fr-FR" altLang="en-US"/>
              <a:t>pg_ident.conf : </a:t>
            </a:r>
            <a:r>
              <a:rPr lang="en-US" altLang="fr-FR"/>
              <a:t>Mapping utilisateurs OS </a:t>
            </a:r>
            <a:r>
              <a:rPr lang="en-US" altLang="en-US"/>
              <a:t>→</a:t>
            </a:r>
            <a:r>
              <a:rPr lang="en-US" altLang="fr-FR"/>
              <a:t> PostgreSQL (vide par d</a:t>
            </a:r>
            <a:r>
              <a:rPr lang="en-US" altLang="en-US"/>
              <a:t>é</a:t>
            </a:r>
            <a:r>
              <a:rPr lang="en-US" altLang="fr-FR"/>
              <a:t>faut) </a:t>
            </a:r>
            <a:endParaRPr lang="en-US" altLang="fr-FR"/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Arborescence des </a:t>
            </a:r>
            <a:r>
              <a:rPr lang="en-US" sz="3600" dirty="0" err="1"/>
              <a:t>fichiers</a:t>
            </a:r>
            <a:endParaRPr lang="fr-FR" sz="3600" dirty="0" err="1"/>
          </a:p>
        </p:txBody>
      </p:sp>
      <p:sp>
        <p:nvSpPr>
          <p:cNvPr id="4" name="Zone de texte 3"/>
          <p:cNvSpPr txBox="1"/>
          <p:nvPr/>
        </p:nvSpPr>
        <p:spPr>
          <a:xfrm>
            <a:off x="1444625" y="1005205"/>
            <a:ext cx="6420485" cy="492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PGDATA/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PG_VERSION                    # Version majeure (contient "18")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postgresql.conf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🔥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CONFIG PRINCIPAL (2500 lignes)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pg_hba.conf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🔐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AUTHENTIFICATION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pg_ident.conf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👤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MAPPING UTILISATEURS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postgresql.auto.conf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⚙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️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AUTO-G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(ALTER SYSTEM)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postmaster.pid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🟢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SERVEUR ACTIF (PID + port)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postmaster.opts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📋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OPTIONS D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MARRAGE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endParaRPr lang="en-US" alt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base/     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📊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DONN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ES PAR BASE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1/                       # OID=1 : template1 (syst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me)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5/                       # OID=5 : template0 (syst</a:t>
            </a:r>
            <a:r>
              <a:rPr lang="" altLang="en-US" sz="1000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me)  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12739/                   # OID=12739 : postgres (d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faut)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└──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16384/                   # Votre base "ventes_pharma"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endParaRPr lang="en-US" alt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global/   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🌍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TABLES GLOBALES (pg_database...)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1260                     # pg_database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1261                     # pg_authid (users)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└──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2615                     # pg_class (tables/index)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endParaRPr lang="en-US" alt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pg_wal/   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💾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WAL (Write Ahead Log)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000000010000000000000001  # Logs transactions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└──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archive_status/          # Status archivage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│</a:t>
            </a:r>
            <a:endParaRPr lang="en-US" alt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pg_multixact/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🔒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Multi-transactions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pg_subtrans/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🔗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Sous-transactions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pg_clog/                     # </a:t>
            </a:r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Status commit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pg_notify/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🔔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LISTEN/NOTIFY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pg_stat_tmp/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📈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Stats temporaires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├──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pg_serial/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🔢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Serializable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000">
                <a:latin typeface="Times New Roman" panose="02020603050405020304" charset="0"/>
                <a:cs typeface="Times New Roman" panose="02020603050405020304" charset="0"/>
              </a:rPr>
              <a:t>└──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pg_tblspc/                   #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</a:rPr>
              <a:t>📁</a:t>
            </a:r>
            <a:r>
              <a:rPr lang="en-US" altLang="fr-FR" sz="1000">
                <a:latin typeface="Times New Roman" panose="02020603050405020304" charset="0"/>
                <a:cs typeface="Times New Roman" panose="02020603050405020304" charset="0"/>
              </a:rPr>
              <a:t> Tablespaces externes</a:t>
            </a:r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Interface </a:t>
            </a:r>
            <a:r>
              <a:rPr lang="en-US" sz="3600" dirty="0" err="1"/>
              <a:t>pgAdmin</a:t>
            </a:r>
            <a:endParaRPr lang="fr-FR" sz="3600" dirty="0" err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/>
              <a:t>Utilisation</a:t>
            </a:r>
            <a:r>
              <a:rPr lang="en-US" sz="3600" dirty="0"/>
              <a:t> PostgreSQL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/>
              <a:t>Requêtes</a:t>
            </a:r>
            <a:r>
              <a:rPr lang="en-US" sz="3600" dirty="0"/>
              <a:t> SQL</a:t>
            </a:r>
            <a:endParaRPr lang="fr-FR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Demonstrations</a:t>
            </a:r>
            <a:endParaRPr lang="fr-FR" sz="3600" dirty="0" err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/>
              <a:t>Améliorations</a:t>
            </a:r>
            <a:r>
              <a:rPr lang="en-US" sz="3600" dirty="0"/>
              <a:t> possible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Conclusion</a:t>
            </a:r>
            <a:endParaRPr lang="fr-FR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4" name="Rectangle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 2" descr="Abstract Background Modern · Free image on Pixabay"/>
          <p:cNvPicPr>
            <a:picLocks noChangeAspect="1"/>
          </p:cNvPicPr>
          <p:nvPr/>
        </p:nvPicPr>
        <p:blipFill>
          <a:blip r:embed="rId2"/>
          <a:srcRect t="14835" b="1483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908" y="151298"/>
            <a:ext cx="9813177" cy="647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References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3329</Words>
  <Application>WPS Presentation</Application>
  <PresentationFormat>Grand écran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Meiryo</vt:lpstr>
      <vt:lpstr>Arial</vt:lpstr>
      <vt:lpstr>berkeleyMono</vt:lpstr>
      <vt:lpstr>Courant</vt:lpstr>
      <vt:lpstr>Aptos</vt:lpstr>
      <vt:lpstr>Segoe UI</vt:lpstr>
      <vt:lpstr>Microsoft YaHei</vt:lpstr>
      <vt:lpstr>Arial Unicode MS</vt:lpstr>
      <vt:lpstr>Aptos Display</vt:lpstr>
      <vt:lpstr>Calibri</vt:lpstr>
      <vt:lpstr>Times New Roman</vt:lpstr>
      <vt:lpstr>Wingdings</vt:lpstr>
      <vt:lpstr>Thème Office</vt:lpstr>
      <vt:lpstr>PowerPoint 演示文稿</vt:lpstr>
      <vt:lpstr>Introduction:</vt:lpstr>
      <vt:lpstr>Modèles de Conception </vt:lpstr>
      <vt:lpstr>Architecture Full Stack</vt:lpstr>
      <vt:lpstr>Présentation PostgreSQL</vt:lpstr>
      <vt:lpstr>Fichiers Configuration</vt:lpstr>
      <vt:lpstr>Arborescence des fichiers</vt:lpstr>
      <vt:lpstr>Interface pgAdmin</vt:lpstr>
      <vt:lpstr>Utilisation PostgreSQL</vt:lpstr>
      <vt:lpstr>Requêtes SQL</vt:lpstr>
      <vt:lpstr>Demonstrations</vt:lpstr>
      <vt:lpstr>Améliorations possible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 Dutsonu</cp:lastModifiedBy>
  <cp:revision>434</cp:revision>
  <dcterms:created xsi:type="dcterms:W3CDTF">2026-01-10T20:07:00Z</dcterms:created>
  <dcterms:modified xsi:type="dcterms:W3CDTF">2026-01-12T17:26:31Z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0EA1A68719D34C39A2D0889B9EDA7978_12</vt:lpwstr>
  </property>
  <property fmtid="{D5CDD505-2E9C-101B-9397-08002B2CF9AE}" pid="3" name="KSOProductBuildVer">
    <vt:lpwstr>1036-12.2.0.23196</vt:lpwstr>
  </property>
</Properties>
</file>